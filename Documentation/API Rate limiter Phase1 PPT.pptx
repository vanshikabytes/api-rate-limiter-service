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1" r:id="rId5"/>
    <p:sldId id="274" r:id="rId6"/>
    <p:sldId id="273" r:id="rId7"/>
    <p:sldId id="279" r:id="rId8"/>
    <p:sldId id="268" r:id="rId9"/>
    <p:sldId id="266" r:id="rId10"/>
    <p:sldId id="275" r:id="rId11"/>
    <p:sldId id="276" r:id="rId12"/>
    <p:sldId id="280" r:id="rId13"/>
    <p:sldId id="281" r:id="rId14"/>
    <p:sldId id="282" r:id="rId15"/>
    <p:sldId id="269" r:id="rId16"/>
    <p:sldId id="262" r:id="rId17"/>
    <p:sldId id="267" r:id="rId18"/>
    <p:sldId id="271" r:id="rId19"/>
    <p:sldId id="270" r:id="rId20"/>
    <p:sldId id="272" r:id="rId21"/>
    <p:sldId id="265" r:id="rId22"/>
    <p:sldId id="258" r:id="rId23"/>
    <p:sldId id="257" r:id="rId24"/>
    <p:sldId id="277" r:id="rId25"/>
    <p:sldId id="286" r:id="rId26"/>
    <p:sldId id="288" r:id="rId27"/>
    <p:sldId id="287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225" y="297180"/>
            <a:ext cx="10724515" cy="8362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API Rate Limiter + Backend System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860" y="1228725"/>
            <a:ext cx="10835640" cy="5215255"/>
          </a:xfrm>
        </p:spPr>
        <p:txBody>
          <a:bodyPr/>
          <a:lstStyle/>
          <a:p>
            <a:r>
              <a:rPr lang="en-US" altLang="en-US"/>
              <a:t>Token Bucket Based Rate Limiting using Spring Boot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ChatGPT Image Apr 8, 2026, 12_17_3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510" y="1681480"/>
            <a:ext cx="9840595" cy="4925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What is Rate Limiting?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Each user can send limited requests</a:t>
            </a:r>
            <a:endParaRPr lang="en-US" altLang="en-US"/>
          </a:p>
          <a:p>
            <a:r>
              <a:rPr lang="en-US" altLang="en-US"/>
              <a:t>If limit is crossed → request is blocked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r>
              <a:rPr lang="en-US" altLang="en-US"/>
              <a:t>Limit = 5 requests</a:t>
            </a:r>
            <a:endParaRPr lang="en-US" altLang="en-US"/>
          </a:p>
          <a:p>
            <a:r>
              <a:rPr lang="en-US" altLang="en-US"/>
              <a:t>6th request → rejected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Token Bucket Concept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How it works:</a:t>
            </a:r>
            <a:endParaRPr lang="en-US" altLang="en-US" b="1"/>
          </a:p>
          <a:p>
            <a:r>
              <a:rPr lang="en-US" altLang="en-US" b="1">
                <a:sym typeface="+mn-ea"/>
              </a:rPr>
              <a:t>Each user has a bucket</a:t>
            </a:r>
            <a:endParaRPr lang="en-US" altLang="en-US" b="1"/>
          </a:p>
          <a:p>
            <a:r>
              <a:rPr lang="en-US" altLang="en-US" b="1">
                <a:sym typeface="+mn-ea"/>
              </a:rPr>
              <a:t>Bucket contains tokens</a:t>
            </a:r>
            <a:endParaRPr lang="en-US" altLang="en-US" b="1"/>
          </a:p>
          <a:p>
            <a:r>
              <a:rPr lang="en-US" altLang="en-US" b="1">
                <a:sym typeface="+mn-ea"/>
              </a:rPr>
              <a:t>Each request uses 1 token</a:t>
            </a:r>
            <a:endParaRPr lang="en-US" altLang="en-US" b="1"/>
          </a:p>
          <a:p>
            <a:r>
              <a:rPr lang="en-US" altLang="en-US" b="1">
                <a:sym typeface="+mn-ea"/>
              </a:rPr>
              <a:t>Tokens refill over time</a:t>
            </a:r>
            <a:endParaRPr lang="en-US" alt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32755" cy="4351655"/>
          </a:xfrm>
        </p:spPr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Example: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Capacity = 5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Refill = 5 token/min</a:t>
            </a:r>
            <a:endParaRPr lang="en-US" altLang="en-US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Request	             Result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1–5	                          Allowed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6	                          Rejected(429)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838200" y="643890"/>
            <a:ext cx="9392285" cy="553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Overview: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 algn="ctr">
              <a:buNone/>
            </a:pPr>
            <a:r>
              <a:rPr lang="en-US"/>
              <a:t>  </a:t>
            </a:r>
            <a:r>
              <a:rPr lang="en-US" altLang="en-US" b="1">
                <a:sym typeface="+mn-ea"/>
              </a:rPr>
              <a:t>Client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 ↓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Rate Limiter (Token bucket Check)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 ↓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Backend API (Employee CRUD)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 ↓</a:t>
            </a:r>
            <a:endParaRPr lang="en-US" altLang="en-US" b="1"/>
          </a:p>
          <a:p>
            <a:pPr marL="0" indent="0" algn="ctr">
              <a:buNone/>
            </a:pPr>
            <a:r>
              <a:rPr lang="en-US" altLang="en-US" b="1">
                <a:sym typeface="+mn-ea"/>
              </a:rPr>
              <a:t>Response</a:t>
            </a:r>
            <a:endParaRPr lang="en-US" altLang="en-US" b="1"/>
          </a:p>
          <a:p>
            <a:pPr marL="0" indent="0" algn="ctr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93825"/>
            <a:ext cx="10515600" cy="4351338"/>
          </a:xfrm>
        </p:spPr>
        <p:txBody>
          <a:bodyPr/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                                       </a:t>
            </a:r>
            <a:r>
              <a:rPr lang="en-US" sz="1800"/>
              <a:t> </a:t>
            </a:r>
            <a:r>
              <a:rPr lang="en-US" sz="1800">
                <a:highlight>
                  <a:srgbClr val="00FF00"/>
                </a:highlight>
              </a:rPr>
              <a:t>if allowed</a:t>
            </a:r>
            <a:endParaRPr lang="en-US"/>
          </a:p>
          <a:p>
            <a:pPr marL="0" indent="0">
              <a:buNone/>
            </a:pPr>
            <a:r>
              <a:rPr lang="en-US">
                <a:highlight>
                  <a:srgbClr val="FFFF00"/>
                </a:highlight>
              </a:rPr>
              <a:t>Client</a:t>
            </a:r>
            <a:r>
              <a:rPr lang="en-US"/>
              <a:t> -----&gt;</a:t>
            </a:r>
            <a:r>
              <a:rPr lang="en-US">
                <a:highlight>
                  <a:srgbClr val="FFFF00"/>
                </a:highlight>
              </a:rPr>
              <a:t>Interceptor</a:t>
            </a:r>
            <a:r>
              <a:rPr lang="en-US"/>
              <a:t>------&gt;</a:t>
            </a:r>
            <a:r>
              <a:rPr lang="en-US">
                <a:highlight>
                  <a:srgbClr val="00FF00"/>
                </a:highlight>
              </a:rPr>
              <a:t>Controller-</a:t>
            </a:r>
            <a:r>
              <a:rPr lang="en-US"/>
              <a:t>-----&gt;</a:t>
            </a:r>
            <a:r>
              <a:rPr lang="en-US">
                <a:highlight>
                  <a:srgbClr val="00FF00"/>
                </a:highlight>
              </a:rPr>
              <a:t>Service</a:t>
            </a:r>
            <a:r>
              <a:rPr lang="en-US"/>
              <a:t>-------&gt;</a:t>
            </a:r>
            <a:r>
              <a:rPr lang="en-US">
                <a:highlight>
                  <a:srgbClr val="00FF00"/>
                </a:highlight>
              </a:rPr>
              <a:t>Repository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(RateLimit)-------&gt; Controller never Reaches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         </a:t>
            </a:r>
            <a:r>
              <a:rPr lang="en-US" sz="1600">
                <a:solidFill>
                  <a:schemeClr val="tx1"/>
                </a:solidFill>
                <a:highlight>
                  <a:srgbClr val="FF0000"/>
                </a:highlight>
              </a:rPr>
              <a:t>throws exception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/>
          <p:nvPr>
            <p:ph type="body" idx="1"/>
          </p:nvPr>
        </p:nvSpPr>
        <p:spPr>
          <a:xfrm>
            <a:off x="131445" y="122555"/>
            <a:ext cx="12060555" cy="6735445"/>
          </a:xfrm>
        </p:spPr>
        <p:txBody>
          <a:bodyPr/>
          <a:p>
            <a:endParaRPr lang="en-US"/>
          </a:p>
        </p:txBody>
      </p:sp>
      <p:pic>
        <p:nvPicPr>
          <p:cNvPr id="3" name="Picture 2" descr="rate_limiting_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73228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/>
          <p:nvPr>
            <p:ph type="body" idx="1"/>
          </p:nvPr>
        </p:nvSpPr>
        <p:spPr>
          <a:xfrm>
            <a:off x="89535" y="0"/>
            <a:ext cx="11972290" cy="6743065"/>
          </a:xfrm>
        </p:spPr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0445" y="0"/>
            <a:ext cx="50711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625" y="180340"/>
            <a:ext cx="11871960" cy="6400800"/>
          </a:xfrm>
        </p:spPr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275" y="0"/>
            <a:ext cx="72834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Content Placeholder 7" descr="user_management_admin_flow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615440" y="181610"/>
            <a:ext cx="8475345" cy="654113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44575" y="675640"/>
            <a:ext cx="9481185" cy="5501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/>
              <a:t>RateLimitServiceTest</a:t>
            </a:r>
            <a:endParaRPr lang="en-US"/>
          </a:p>
          <a:p>
            <a:r>
              <a:rPr lang="en-US" altLang="en-US" sz="1600"/>
              <a:t>shouldBlockAfterCapacityReached():  Ensures bucket respects capacity limit strictly</a:t>
            </a:r>
            <a:endParaRPr lang="en-US" altLang="en-US" sz="1600"/>
          </a:p>
          <a:p>
            <a:r>
              <a:rPr lang="en-US" altLang="en-US" sz="1600"/>
              <a:t>shouldReturnCorrectStatus() :Service correctly wraps bucket logic + exposes API-friendly response</a:t>
            </a:r>
            <a:endParaRPr lang="en-US" altLang="en-US" sz="1600"/>
          </a:p>
          <a:p>
            <a:r>
              <a:rPr lang="en-US" altLang="en-US" sz="1600"/>
              <a:t>shouldResetBucket() :Reset restores full capacity (important for admin/manual override cases)</a:t>
            </a:r>
            <a:endParaRPr lang="en-US" altLang="en-US" sz="1600"/>
          </a:p>
          <a:p>
            <a:r>
              <a:rPr lang="en-US" altLang="en-US" sz="1600"/>
              <a:t>shouldThrowWhenKeyIsNull(): I/p validation</a:t>
            </a:r>
            <a:endParaRPr lang="en-US" altLang="en-US" sz="1600"/>
          </a:p>
          <a:p>
            <a:r>
              <a:rPr lang="en-US" altLang="en-US" sz="1600"/>
              <a:t>shouldThrowWhenKeyIsBlank(): I/p validation</a:t>
            </a:r>
            <a:endParaRPr lang="en-US" alt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BackendControllerTest.java</a:t>
            </a:r>
            <a:endParaRPr lang="en-US" altLang="en-US"/>
          </a:p>
          <a:p>
            <a:r>
              <a:rPr lang="en-US" altLang="en-US" sz="1600"/>
              <a:t>shouldAllowBackendAccessAndIncludeHeaders():Interceptor allows request AND injects rate-limit headers</a:t>
            </a:r>
            <a:endParaRPr lang="en-US" altLang="en-US" sz="1600"/>
          </a:p>
          <a:p>
            <a:r>
              <a:rPr lang="en-US" altLang="en-US" sz="1600"/>
              <a:t>shouldBlockWhenLimitExceeded(): Interceptor short-circuits request — controller is NEVER called</a:t>
            </a:r>
            <a:endParaRPr lang="en-US" altLang="en-US" sz="1600"/>
          </a:p>
          <a:p>
            <a:r>
              <a:rPr lang="en-US" altLang="en-US" sz="1600"/>
              <a:t>shouldReturn404ForNonExistentUser(): Rate limiter allows request, but business logic fails → 404</a:t>
            </a:r>
            <a:endParaRPr lang="en-US" altLang="en-US" sz="16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en-US"/>
              <a:t>RateLimiterControllerTest.java</a:t>
            </a:r>
            <a:endParaRPr lang="en-US" altLang="en-US"/>
          </a:p>
          <a:p>
            <a:r>
              <a:rPr lang="en-US" altLang="en-US" sz="1600"/>
              <a:t>shouldGetStatus: NOT testing logic, only HTTP mapping + JSON response</a:t>
            </a:r>
            <a:endParaRPr lang="en-US" altLang="en-US" sz="1600"/>
          </a:p>
          <a:p>
            <a:r>
              <a:rPr lang="en-US" altLang="en-US" sz="1600"/>
              <a:t>shouldResetBucket()</a:t>
            </a:r>
            <a:endParaRPr lang="en-US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Components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Main Parts:</a:t>
            </a:r>
            <a:endParaRPr lang="en-US" altLang="en-US"/>
          </a:p>
          <a:p>
            <a:r>
              <a:rPr lang="en-US" altLang="en-US"/>
              <a:t>TokenBucket → logic</a:t>
            </a:r>
            <a:endParaRPr lang="en-US" altLang="en-US"/>
          </a:p>
          <a:p>
            <a:r>
              <a:rPr lang="en-US" altLang="en-US"/>
              <a:t>RateLimiterService → decision maker</a:t>
            </a:r>
            <a:endParaRPr lang="en-US" altLang="en-US"/>
          </a:p>
          <a:p>
            <a:r>
              <a:rPr lang="en-US" altLang="en-US"/>
              <a:t>InMemoryBucketRepository → stores buckets</a:t>
            </a:r>
            <a:endParaRPr lang="en-US" altLang="en-US"/>
          </a:p>
          <a:p>
            <a:r>
              <a:rPr lang="en-US" altLang="en-US"/>
              <a:t>RateLimiterInterceptor → gatekeeper</a:t>
            </a:r>
            <a:endParaRPr lang="en-US" altLang="en-US"/>
          </a:p>
          <a:p>
            <a:r>
              <a:rPr lang="en-US" altLang="en-US"/>
              <a:t>GlobalExceptionHandler</a:t>
            </a:r>
            <a:r>
              <a:rPr lang="en-US" altLang="en-US">
                <a:sym typeface="+mn-ea"/>
              </a:rPr>
              <a:t>→Handle Errors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Backend System (Employee API)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APIs:</a:t>
            </a:r>
            <a:endParaRPr lang="en-US" altLang="en-US"/>
          </a:p>
          <a:p>
            <a:r>
              <a:rPr lang="en-US" altLang="en-US"/>
              <a:t>Create Employee</a:t>
            </a:r>
            <a:endParaRPr lang="en-US" altLang="en-US"/>
          </a:p>
          <a:p>
            <a:r>
              <a:rPr lang="en-US" altLang="en-US"/>
              <a:t>Get Employee</a:t>
            </a:r>
            <a:endParaRPr lang="en-US" altLang="en-US"/>
          </a:p>
          <a:p>
            <a:r>
              <a:rPr lang="en-US" altLang="en-US"/>
              <a:t>Update Employee</a:t>
            </a:r>
            <a:endParaRPr lang="en-US" altLang="en-US"/>
          </a:p>
          <a:p>
            <a:r>
              <a:rPr lang="en-US" altLang="en-US"/>
              <a:t>Delete Employee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Layers:</a:t>
            </a:r>
            <a:endParaRPr lang="en-US"/>
          </a:p>
          <a:p>
            <a:pPr marL="0" indent="0">
              <a:buNone/>
            </a:pPr>
            <a:r>
              <a:rPr lang="en-US" altLang="en-US"/>
              <a:t>  Controller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</a:t>
            </a:r>
            <a:r>
              <a:rPr lang="en-US" altLang="en-US" b="1">
                <a:sym typeface="+mn-ea"/>
              </a:rPr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Service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</a:t>
            </a:r>
            <a:r>
              <a:rPr lang="en-US" altLang="en-US" b="1">
                <a:sym typeface="+mn-ea"/>
              </a:rPr>
              <a:t>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Repository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</a:t>
            </a:r>
            <a:r>
              <a:rPr lang="en-US" altLang="en-US" b="1">
                <a:sym typeface="+mn-ea"/>
              </a:rPr>
              <a:t> ↓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     Model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0530"/>
          </a:xfrm>
        </p:spPr>
        <p:txBody>
          <a:bodyPr>
            <a:normAutofit/>
          </a:bodyPr>
          <a:p>
            <a:r>
              <a:rPr lang="en-US" altLang="en-US"/>
              <a:t>Integration:(Expected Architecture)</a:t>
            </a:r>
            <a:br>
              <a:rPr lang="en-US" altLang="en-US"/>
            </a:br>
            <a:r>
              <a:rPr lang="en-US" altLang="en-US" sz="3110"/>
              <a:t>How Rate Limiter Protects Backend?</a:t>
            </a:r>
            <a:br>
              <a:rPr lang="en-US" altLang="en-US" sz="3110"/>
            </a:br>
            <a:r>
              <a:rPr lang="en-US" altLang="en-US" sz="2800">
                <a:highlight>
                  <a:srgbClr val="FFFF00"/>
                </a:highlight>
              </a:rPr>
              <a:t>WebConfig → registers interceptor → applies to /api/backend/**</a:t>
            </a:r>
            <a:endParaRPr lang="en-US" altLang="en-US" sz="2800">
              <a:highlight>
                <a:srgbClr val="FFFF00"/>
              </a:highligh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2065020"/>
            <a:ext cx="10515600" cy="4112260"/>
          </a:xfrm>
        </p:spPr>
        <p:txBody>
          <a:bodyPr>
            <a:normAutofit lnSpcReduction="20000"/>
          </a:bodyPr>
          <a:p>
            <a:pPr marL="0" indent="0" algn="ctr">
              <a:buNone/>
            </a:pPr>
            <a:r>
              <a:rPr lang="en-US" altLang="en-US"/>
              <a:t>Client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RateLimitInterceptor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EmployeeController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Service 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>
                <a:sym typeface="+mn-ea"/>
              </a:rPr>
              <a:t>↓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Repository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Limitations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Uses in-memory storage</a:t>
            </a:r>
            <a:endParaRPr lang="en-US" altLang="en-US"/>
          </a:p>
          <a:p>
            <a:r>
              <a:rPr lang="en-US" altLang="en-US"/>
              <a:t>Data lost on restart</a:t>
            </a:r>
            <a:endParaRPr lang="en-US" altLang="en-US"/>
          </a:p>
          <a:p>
            <a:r>
              <a:rPr lang="en-US" altLang="en-US"/>
              <a:t>Not suitable for multiple servers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Error Handling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If limit exceeded:</a:t>
            </a:r>
            <a:endParaRPr lang="en-US" altLang="en-US"/>
          </a:p>
          <a:p>
            <a:r>
              <a:rPr lang="en-US" altLang="en-US"/>
              <a:t>Return 429 Too Many Requests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Headers:</a:t>
            </a:r>
            <a:endParaRPr lang="en-US" altLang="en-US"/>
          </a:p>
          <a:p>
            <a:r>
              <a:rPr lang="en-US" altLang="en-US"/>
              <a:t>Retry-After</a:t>
            </a:r>
            <a:endParaRPr lang="en-US" altLang="en-US"/>
          </a:p>
          <a:p>
            <a:r>
              <a:rPr lang="en-US" altLang="en-US"/>
              <a:t>Remaining tokens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Final Summary</a:t>
            </a:r>
            <a:br>
              <a:rPr lang="en-US" altLang="en-US"/>
            </a:br>
            <a:r>
              <a:rPr lang="en-US" altLang="en-US"/>
              <a:t>What I built?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Rate limiter using Token Bucket</a:t>
            </a:r>
            <a:endParaRPr lang="en-US" altLang="en-US"/>
          </a:p>
          <a:p>
            <a:r>
              <a:rPr lang="en-US" altLang="en-US"/>
              <a:t>Thread-safe system</a:t>
            </a:r>
            <a:endParaRPr lang="en-US" altLang="en-US"/>
          </a:p>
          <a:p>
            <a:r>
              <a:rPr lang="en-US" altLang="en-US"/>
              <a:t>Middleware-based design</a:t>
            </a:r>
            <a:endParaRPr lang="en-US" altLang="en-US"/>
          </a:p>
          <a:p>
            <a:r>
              <a:rPr lang="en-US" altLang="en-US"/>
              <a:t>Integrated with backend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Token Bucket?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Advantages:</a:t>
            </a:r>
            <a:endParaRPr lang="en-US" altLang="en-US"/>
          </a:p>
          <a:p>
            <a:r>
              <a:rPr lang="en-US" altLang="en-US"/>
              <a:t>Allows small bursts</a:t>
            </a:r>
            <a:endParaRPr lang="en-US" altLang="en-US"/>
          </a:p>
          <a:p>
            <a:r>
              <a:rPr lang="en-US" altLang="en-US"/>
              <a:t>Smooth traffic control</a:t>
            </a:r>
            <a:endParaRPr lang="en-US" altLang="en-US"/>
          </a:p>
          <a:p>
            <a:r>
              <a:rPr lang="en-US" altLang="en-US"/>
              <a:t>Simple and fast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Real World Examples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Where this is used:</a:t>
            </a:r>
            <a:endParaRPr lang="en-US" altLang="en-US"/>
          </a:p>
          <a:p>
            <a:r>
              <a:rPr lang="en-US" altLang="en-US"/>
              <a:t>Payment APIs (to avoid misuse)</a:t>
            </a:r>
            <a:endParaRPr lang="en-US" altLang="en-US"/>
          </a:p>
          <a:p>
            <a:r>
              <a:rPr lang="en-US" altLang="en-US"/>
              <a:t>Login systems (to prevent brute force)</a:t>
            </a:r>
            <a:endParaRPr lang="en-US" altLang="en-US"/>
          </a:p>
          <a:p>
            <a:r>
              <a:rPr lang="en-US" altLang="en-US"/>
              <a:t>Public APIs (to ensure fair usage)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Problem Statement  &amp; Goals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PROBLEMS:</a:t>
            </a:r>
            <a:endParaRPr lang="en-US" altLang="en-US"/>
          </a:p>
          <a:p>
            <a:r>
              <a:rPr lang="en-US" altLang="en-US"/>
              <a:t>APIs can be overloaded if too many requests come</a:t>
            </a:r>
            <a:endParaRPr lang="en-US" altLang="en-US"/>
          </a:p>
          <a:p>
            <a:r>
              <a:rPr lang="en-US" altLang="en-US"/>
              <a:t>One user can send unlimited requests</a:t>
            </a:r>
            <a:endParaRPr lang="en-US" altLang="en-US"/>
          </a:p>
          <a:p>
            <a:r>
              <a:rPr lang="en-US" altLang="en-US"/>
              <a:t>This can slow down or crash the system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GOALS:</a:t>
            </a:r>
            <a:endParaRPr lang="en-US" altLang="en-US"/>
          </a:p>
          <a:p>
            <a:r>
              <a:rPr lang="en-US" altLang="en-US"/>
              <a:t>Control number of requests</a:t>
            </a:r>
            <a:endParaRPr lang="en-US" altLang="en-US"/>
          </a:p>
          <a:p>
            <a:r>
              <a:rPr lang="en-US" altLang="en-US"/>
              <a:t>Ensure fair usage</a:t>
            </a:r>
            <a:endParaRPr lang="en-US" altLang="en-US"/>
          </a:p>
          <a:p>
            <a:r>
              <a:rPr lang="en-US" altLang="en-US"/>
              <a:t>Protect backend system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235" y="201930"/>
            <a:ext cx="11631930" cy="6366510"/>
          </a:xfrm>
        </p:spPr>
        <p:txBody>
          <a:bodyPr/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85775" y="1191895"/>
          <a:ext cx="11049635" cy="3723640"/>
        </p:xfrm>
        <a:graphic>
          <a:graphicData uri="http://schemas.openxmlformats.org/drawingml/2006/table">
            <a:tbl>
              <a:tblPr/>
              <a:tblGrid>
                <a:gridCol w="1704975"/>
                <a:gridCol w="1557655"/>
                <a:gridCol w="1557655"/>
                <a:gridCol w="1557655"/>
                <a:gridCol w="1557020"/>
                <a:gridCol w="1557020"/>
                <a:gridCol w="1557655"/>
              </a:tblGrid>
              <a:tr h="78486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Tier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capacity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refillTokens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windowSeconds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= rate/sec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1 token every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D3D3A"/>
                          </a:solidFill>
                          <a:latin typeface="+mj-lt"/>
                          <a:cs typeface="+mj-lt"/>
                        </a:rPr>
                        <a:t>Retry-After (empty)</a:t>
                      </a:r>
                      <a:endParaRPr sz="2000" b="0">
                        <a:solidFill>
                          <a:srgbClr val="3D3D3A"/>
                        </a:solidFill>
                        <a:latin typeface="+mj-lt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01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FREE</a:t>
                      </a:r>
                      <a:endParaRPr sz="2000" b="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3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3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60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0.0500</a:t>
                      </a:r>
                      <a:endParaRPr sz="200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20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~17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5A4815"/>
                          </a:solidFill>
                          <a:latin typeface="+mj-lt"/>
                          <a:ea typeface="ui-monospace"/>
                          <a:cs typeface="+mj-lt"/>
                        </a:rPr>
                        <a:t>GOLD</a:t>
                      </a:r>
                      <a:endParaRPr sz="2000" b="0">
                        <a:solidFill>
                          <a:srgbClr val="5A4815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5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60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5A4815"/>
                          </a:solidFill>
                          <a:latin typeface="+mj-lt"/>
                          <a:ea typeface="ui-monospace"/>
                          <a:cs typeface="+mj-lt"/>
                        </a:rPr>
                        <a:t>0.0833</a:t>
                      </a:r>
                      <a:endParaRPr sz="2000">
                        <a:solidFill>
                          <a:srgbClr val="5A4815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~12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0">
                          <a:solidFill>
                            <a:srgbClr val="3266AD"/>
                          </a:solidFill>
                          <a:latin typeface="+mj-lt"/>
                          <a:ea typeface="ui-monospace"/>
                          <a:cs typeface="+mj-lt"/>
                        </a:rPr>
                        <a:t>PLATINUM</a:t>
                      </a:r>
                      <a:endParaRPr sz="2000" b="0">
                        <a:solidFill>
                          <a:srgbClr val="3266AD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50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50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60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3266AD"/>
                          </a:solidFill>
                          <a:latin typeface="+mj-lt"/>
                          <a:ea typeface="ui-monospace"/>
                          <a:cs typeface="+mj-lt"/>
                        </a:rPr>
                        <a:t>0.8333</a:t>
                      </a:r>
                      <a:endParaRPr sz="2000">
                        <a:solidFill>
                          <a:srgbClr val="3266AD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1.2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~2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01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3D3D3A"/>
                          </a:solidFill>
                          <a:latin typeface="+mj-lt"/>
                          <a:ea typeface="ui-monospace"/>
                          <a:cs typeface="+mj-lt"/>
                        </a:rPr>
                        <a:t>IP </a:t>
                      </a:r>
                      <a:endParaRPr sz="2000">
                        <a:solidFill>
                          <a:srgbClr val="3D3D3A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5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5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60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3D3D3A"/>
                          </a:solidFill>
                          <a:latin typeface="+mj-lt"/>
                          <a:ea typeface="ui-monospace"/>
                          <a:cs typeface="+mj-lt"/>
                        </a:rPr>
                        <a:t>0.0833</a:t>
                      </a:r>
                      <a:endParaRPr sz="2000">
                        <a:solidFill>
                          <a:srgbClr val="3D3D3A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~12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01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3D3D3A"/>
                          </a:solidFill>
                          <a:latin typeface="+mj-lt"/>
                          <a:ea typeface="ui-monospace"/>
                          <a:cs typeface="+mj-lt"/>
                        </a:rPr>
                        <a:t>API key</a:t>
                      </a:r>
                      <a:endParaRPr sz="2000">
                        <a:solidFill>
                          <a:srgbClr val="3D3D3A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100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100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3600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3D3D3A"/>
                          </a:solidFill>
                          <a:latin typeface="+mj-lt"/>
                          <a:ea typeface="ui-monospace"/>
                          <a:cs typeface="+mj-lt"/>
                        </a:rPr>
                        <a:t>0.0278</a:t>
                      </a:r>
                      <a:endParaRPr sz="2000">
                        <a:solidFill>
                          <a:srgbClr val="3D3D3A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36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latin typeface="+mj-lt"/>
                          <a:ea typeface="ui-monospace"/>
                          <a:cs typeface="+mj-lt"/>
                        </a:rPr>
                        <a:t>~36 sec</a:t>
                      </a:r>
                      <a:endParaRPr sz="2000"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894715" y="5115560"/>
            <a:ext cx="9465945" cy="878205"/>
          </a:xfrm>
          <a:prstGeom prst="rect">
            <a:avLst/>
          </a:prstGeom>
          <a:solidFill>
            <a:srgbClr val="92D050"/>
          </a:solidFill>
        </p:spPr>
        <p:txBody>
          <a:bodyPr>
            <a:noAutofit/>
          </a:bodyPr>
          <a:p>
            <a:pPr marL="0" indent="0"/>
            <a:r>
              <a:rPr sz="2000" b="0" i="0">
                <a:solidFill>
                  <a:srgbClr val="3D3D3A"/>
                </a:solidFill>
                <a:latin typeface="+mj-ea"/>
                <a:ea typeface="Anthropic Sans"/>
                <a:cs typeface="+mj-ea"/>
              </a:rPr>
              <a:t>All values come from application.yaml — change any number, restart, zero code change.</a:t>
            </a:r>
            <a:endParaRPr sz="2000" b="0" i="0">
              <a:solidFill>
                <a:srgbClr val="3D3D3A"/>
              </a:solidFill>
              <a:latin typeface="+mj-ea"/>
              <a:ea typeface="Anthropic Sans"/>
              <a:cs typeface="+mj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192020" y="382905"/>
            <a:ext cx="7406005" cy="497840"/>
          </a:xfrm>
          <a:prstGeom prst="rect">
            <a:avLst/>
          </a:prstGeom>
          <a:solidFill>
            <a:srgbClr val="FFFF00"/>
          </a:solidFill>
        </p:spPr>
        <p:txBody>
          <a:bodyPr>
            <a:noAutofit/>
          </a:bodyPr>
          <a:p>
            <a:pPr marL="0" indent="0" algn="ctr"/>
            <a:r>
              <a:rPr sz="2000" b="0" i="0">
                <a:solidFill>
                  <a:srgbClr val="000000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refillRatePerSecond = (double) refillTokens ÷ windowSeconds</a:t>
            </a:r>
            <a:endParaRPr sz="2000" b="0" i="0">
              <a:solidFill>
                <a:srgbClr val="000000"/>
              </a:solidFill>
              <a:latin typeface="Calibri Light" panose="020F0302020204030204" charset="0"/>
              <a:ea typeface="ui-monospace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1149985" y="1052195"/>
            <a:ext cx="6737985" cy="20447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capacity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                                               </a:t>
            </a:r>
            <a:r>
              <a:rPr sz="2000" b="0" i="0">
                <a:solidFill>
                  <a:srgbClr val="141413"/>
                </a:solidFill>
                <a:latin typeface="+mj-lt"/>
                <a:ea typeface="ui-monospace"/>
                <a:cs typeface="+mj-lt"/>
              </a:rPr>
              <a:t>3 tokens</a:t>
            </a:r>
            <a:endParaRPr sz="2000" b="0" i="0">
              <a:solidFill>
                <a:srgbClr val="141413"/>
              </a:solidFill>
              <a:latin typeface="+mj-lt"/>
              <a:ea typeface="ui-monospace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refillTokens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                                           </a:t>
            </a:r>
            <a:r>
              <a:rPr sz="2000" b="0" i="0">
                <a:solidFill>
                  <a:srgbClr val="141413"/>
                </a:solidFill>
                <a:latin typeface="+mj-lt"/>
                <a:ea typeface="ui-monospace"/>
                <a:cs typeface="+mj-lt"/>
              </a:rPr>
              <a:t>3</a:t>
            </a:r>
            <a:endParaRPr sz="2000" b="0" i="0">
              <a:solidFill>
                <a:srgbClr val="141413"/>
              </a:solidFill>
              <a:latin typeface="+mj-lt"/>
              <a:ea typeface="ui-monospace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windowSeconds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                                    </a:t>
            </a:r>
            <a:r>
              <a:rPr sz="2000" b="0" i="0">
                <a:solidFill>
                  <a:srgbClr val="141413"/>
                </a:solidFill>
                <a:latin typeface="+mj-lt"/>
                <a:ea typeface="ui-monospace"/>
                <a:cs typeface="+mj-lt"/>
              </a:rPr>
              <a:t>60 s</a:t>
            </a:r>
            <a:endParaRPr sz="2000" b="0" i="0">
              <a:solidFill>
                <a:srgbClr val="141413"/>
              </a:solidFill>
              <a:latin typeface="+mj-lt"/>
              <a:ea typeface="ui-monospace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refillRatePerSecond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</a:t>
            </a: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                     </a:t>
            </a: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3 ÷ 60</a:t>
            </a:r>
            <a:r>
              <a:rPr sz="2000" b="0" i="0">
                <a:solidFill>
                  <a:srgbClr val="3266AD"/>
                </a:solidFill>
                <a:latin typeface="+mj-lt"/>
                <a:ea typeface="ui-monospace"/>
                <a:cs typeface="+mj-lt"/>
              </a:rPr>
              <a:t>0.0500 tokens/sec</a:t>
            </a:r>
            <a:endParaRPr sz="2000" b="0" i="0">
              <a:solidFill>
                <a:srgbClr val="3266AD"/>
              </a:solidFill>
              <a:latin typeface="+mj-lt"/>
              <a:ea typeface="ui-monospace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1 full token every</a:t>
            </a:r>
            <a:r>
              <a:rPr lang="en-US" sz="2000" b="0" i="0">
                <a:solidFill>
                  <a:srgbClr val="3D3D3A"/>
                </a:solidFill>
                <a:latin typeface="+mj-lt"/>
                <a:ea typeface="ui-monospace"/>
                <a:cs typeface="+mj-lt"/>
              </a:rPr>
              <a:t>                           </a:t>
            </a:r>
            <a:r>
              <a:rPr sz="2000" b="0" i="0">
                <a:solidFill>
                  <a:srgbClr val="3266AD"/>
                </a:solidFill>
                <a:latin typeface="+mj-lt"/>
                <a:ea typeface="ui-monospace"/>
                <a:cs typeface="+mj-lt"/>
              </a:rPr>
              <a:t>1 ÷ 0.05 = 20 seconds</a:t>
            </a:r>
            <a:endParaRPr sz="2000" b="0" i="0">
              <a:solidFill>
                <a:srgbClr val="3266AD"/>
              </a:solidFill>
              <a:latin typeface="+mj-lt"/>
              <a:ea typeface="ui-monospace"/>
              <a:cs typeface="+mj-lt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15290" y="320675"/>
            <a:ext cx="7218680" cy="231457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2000" b="0" i="0">
                <a:solidFill>
                  <a:srgbClr val="265B19"/>
                </a:solidFill>
                <a:latin typeface="Calibri Light" panose="020F0302020204030204" charset="0"/>
                <a:ea typeface="Anthropic Sans"/>
                <a:cs typeface="Calibri Light" panose="020F0302020204030204" charset="0"/>
              </a:rPr>
              <a:t>FREE tier</a:t>
            </a:r>
            <a:endParaRPr lang="en-US" sz="2000" b="0" i="0">
              <a:solidFill>
                <a:srgbClr val="265B19"/>
              </a:solidFill>
              <a:latin typeface="Calibri Light" panose="020F0302020204030204" charset="0"/>
              <a:ea typeface="Anthropic Sans"/>
              <a:cs typeface="Calibri Light" panose="020F03020202040302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806690" y="2388235"/>
            <a:ext cx="3916045" cy="708660"/>
          </a:xfrm>
          <a:prstGeom prst="rect">
            <a:avLst/>
          </a:prstGeom>
          <a:solidFill>
            <a:srgbClr val="FFFF00"/>
          </a:solidFill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sz="1600" b="0" i="0">
                <a:solidFill>
                  <a:srgbClr val="3D3D3A"/>
                </a:solidFill>
                <a:latin typeface="Calibri Light" panose="020F0302020204030204" charset="0"/>
                <a:ea typeface="Anthropic Sans"/>
                <a:cs typeface="Calibri Light" panose="020F0302020204030204" charset="0"/>
              </a:rPr>
              <a:t>Dry run — window 60 s (3 requests in ~3 seconds)</a:t>
            </a:r>
            <a:endParaRPr sz="1600" b="0" i="0">
              <a:solidFill>
                <a:srgbClr val="3D3D3A"/>
              </a:solidFill>
              <a:latin typeface="Calibri Light" panose="020F0302020204030204" charset="0"/>
              <a:ea typeface="Anthropic Sans"/>
              <a:cs typeface="Calibri Light" panose="020F0302020204030204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568960" y="3278505"/>
          <a:ext cx="11263630" cy="3415030"/>
        </p:xfrm>
        <a:graphic>
          <a:graphicData uri="http://schemas.openxmlformats.org/drawingml/2006/table">
            <a:tbl>
              <a:tblPr/>
              <a:tblGrid>
                <a:gridCol w="1609090"/>
                <a:gridCol w="1609090"/>
                <a:gridCol w="1609090"/>
                <a:gridCol w="1609090"/>
                <a:gridCol w="1609090"/>
                <a:gridCol w="1536065"/>
                <a:gridCol w="1682115"/>
              </a:tblGrid>
              <a:tr h="70675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Request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Time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Tokens before refill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Elapsed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Tokens added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After consume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lt"/>
                          <a:ea typeface="Anthropic Sans"/>
                          <a:cs typeface="+mj-lt"/>
                        </a:rPr>
                        <a:t>Result</a:t>
                      </a:r>
                      <a:endParaRPr sz="1800" b="1" i="0">
                        <a:solidFill>
                          <a:srgbClr val="3D3D3A"/>
                        </a:solidFill>
                        <a:latin typeface="+mj-lt"/>
                        <a:ea typeface="Anthropic Sans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t=0s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3.00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0.00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2.00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16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2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t=1s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2.00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+0.05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1.05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43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3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t=2s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1.05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+0.05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0.10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61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4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t=3s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0.10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+0.05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0.15 &lt; 1.0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7F2C28"/>
                          </a:solidFill>
                          <a:latin typeface="+mj-lt"/>
                          <a:ea typeface="ui-monospace"/>
                          <a:cs typeface="+mj-lt"/>
                        </a:rPr>
                        <a:t>429 ✗ Retry-After: 17s</a:t>
                      </a:r>
                      <a:endParaRPr sz="1800" b="0" i="0">
                        <a:solidFill>
                          <a:srgbClr val="7F2C28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675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t=20s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0.15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17s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+0.85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lt"/>
                          <a:ea typeface="ui-monospace"/>
                          <a:cs typeface="+mj-lt"/>
                        </a:rPr>
                        <a:t>0.00</a:t>
                      </a:r>
                      <a:endParaRPr sz="1800" b="0" i="0">
                        <a:solidFill>
                          <a:srgbClr val="000000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lt"/>
                          <a:ea typeface="ui-monospace"/>
                          <a:cs typeface="+mj-lt"/>
                        </a:rPr>
                        <a:t>200 ✓ (auto-refilled)</a:t>
                      </a:r>
                      <a:endParaRPr sz="1800" b="0" i="0">
                        <a:solidFill>
                          <a:srgbClr val="265B19"/>
                        </a:solidFill>
                        <a:latin typeface="+mj-lt"/>
                        <a:ea typeface="ui-monospace"/>
                        <a:cs typeface="+mj-lt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01955" y="525145"/>
            <a:ext cx="8701405" cy="192532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1000"/>
              </a:spcBef>
              <a:spcAft>
                <a:spcPts val="600"/>
              </a:spcAft>
            </a:pPr>
            <a:r>
              <a:rPr b="0" i="0">
                <a:solidFill>
                  <a:srgbClr val="3D3D3A"/>
                </a:solidFill>
                <a:latin typeface="Calibri Light" panose="020F0302020204030204" charset="0"/>
                <a:ea typeface="Anthropic Sans"/>
                <a:cs typeface="Calibri Light" panose="020F0302020204030204" charset="0"/>
              </a:rPr>
              <a:t>Same FREE tier — window changed to 3600 s (per-hour limit)</a:t>
            </a:r>
            <a:endParaRPr b="0" i="0">
              <a:solidFill>
                <a:srgbClr val="3D3D3A"/>
              </a:solidFill>
              <a:latin typeface="Calibri Light" panose="020F0302020204030204" charset="0"/>
              <a:ea typeface="Anthropic Sans"/>
              <a:cs typeface="Calibri Light" panose="020F03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windowSeconds</a:t>
            </a:r>
            <a:r>
              <a:rPr lang="en-US"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                                            </a:t>
            </a:r>
            <a:r>
              <a:rPr sz="2000" b="0" i="0">
                <a:solidFill>
                  <a:srgbClr val="141413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3600 s (1 hour)</a:t>
            </a:r>
            <a:endParaRPr sz="2000" b="0" i="0">
              <a:solidFill>
                <a:srgbClr val="141413"/>
              </a:solidFill>
              <a:latin typeface="Calibri Light" panose="020F0302020204030204" charset="0"/>
              <a:ea typeface="ui-monospace"/>
              <a:cs typeface="Calibri Light" panose="020F03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refillRatePerSecond </a:t>
            </a:r>
            <a:r>
              <a:rPr lang="en-US"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                                        </a:t>
            </a:r>
            <a:r>
              <a:rPr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3 ÷ 3600</a:t>
            </a:r>
            <a:r>
              <a:rPr lang="en-US"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=   </a:t>
            </a:r>
            <a:r>
              <a:rPr sz="2000" b="0" i="0">
                <a:solidFill>
                  <a:srgbClr val="3266AD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0.000833 tokens/sec</a:t>
            </a:r>
            <a:endParaRPr sz="2000" b="0" i="0">
              <a:solidFill>
                <a:srgbClr val="3266AD"/>
              </a:solidFill>
              <a:latin typeface="Calibri Light" panose="020F0302020204030204" charset="0"/>
              <a:ea typeface="ui-monospace"/>
              <a:cs typeface="Calibri Light" panose="020F03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1 full token every</a:t>
            </a:r>
            <a:r>
              <a:rPr lang="en-US"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                                         </a:t>
            </a:r>
            <a:r>
              <a:rPr sz="2000" b="0" i="0">
                <a:solidFill>
                  <a:srgbClr val="3266AD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1200 seconds = 20 minutes</a:t>
            </a:r>
            <a:endParaRPr sz="2000" b="0" i="0">
              <a:solidFill>
                <a:srgbClr val="3266AD"/>
              </a:solidFill>
              <a:latin typeface="Calibri Light" panose="020F0302020204030204" charset="0"/>
              <a:ea typeface="ui-monospace"/>
              <a:cs typeface="Calibri Light" panose="020F03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Retry-After after 4 requests</a:t>
            </a:r>
            <a:r>
              <a:rPr lang="en-US" sz="2000" b="0" i="0">
                <a:solidFill>
                  <a:srgbClr val="3D3D3A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                      </a:t>
            </a:r>
            <a:r>
              <a:rPr sz="2000" b="0" i="0">
                <a:solidFill>
                  <a:srgbClr val="3266AD"/>
                </a:solidFill>
                <a:latin typeface="Calibri Light" panose="020F0302020204030204" charset="0"/>
                <a:ea typeface="ui-monospace"/>
                <a:cs typeface="Calibri Light" panose="020F0302020204030204" charset="0"/>
              </a:rPr>
              <a:t>~1180 seconds ≈ 20 minutes</a:t>
            </a:r>
            <a:endParaRPr sz="2000" b="0" i="0">
              <a:solidFill>
                <a:srgbClr val="3266AD"/>
              </a:solidFill>
              <a:latin typeface="Calibri Light" panose="020F0302020204030204" charset="0"/>
              <a:ea typeface="ui-monospace"/>
              <a:cs typeface="Calibri Light" panose="020F0302020204030204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01955" y="2449830"/>
          <a:ext cx="11130280" cy="3529330"/>
        </p:xfrm>
        <a:graphic>
          <a:graphicData uri="http://schemas.openxmlformats.org/drawingml/2006/table">
            <a:tbl>
              <a:tblPr/>
              <a:tblGrid>
                <a:gridCol w="1590040"/>
                <a:gridCol w="1590040"/>
                <a:gridCol w="1590040"/>
                <a:gridCol w="1590040"/>
                <a:gridCol w="1590040"/>
                <a:gridCol w="1590040"/>
                <a:gridCol w="1590040"/>
              </a:tblGrid>
              <a:tr h="67818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Request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Time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Tokens before</a:t>
                      </a:r>
                      <a:r>
                        <a:rPr lang="en-US"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 refill</a:t>
                      </a:r>
                      <a:endParaRPr lang="en-US"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Elapsed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Tokens added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After consume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3D3D3A"/>
                          </a:solidFill>
                          <a:latin typeface="+mj-ea"/>
                          <a:ea typeface="Anthropic Sans"/>
                          <a:cs typeface="+mj-ea"/>
                        </a:rPr>
                        <a:t>Result</a:t>
                      </a:r>
                      <a:endParaRPr sz="1800" b="1" i="0">
                        <a:solidFill>
                          <a:srgbClr val="3D3D3A"/>
                        </a:solidFill>
                        <a:latin typeface="+mj-ea"/>
                        <a:ea typeface="Anthropic Sans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59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t=0s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3.00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2.00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ea"/>
                          <a:ea typeface="ui-monospace"/>
                          <a:cs typeface="+mj-ea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2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t=1s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2.00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+0.0008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1.001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ea"/>
                          <a:ea typeface="ui-monospace"/>
                          <a:cs typeface="+mj-ea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3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t=2s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1.001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+0.0008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0.002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ea"/>
                          <a:ea typeface="ui-monospace"/>
                          <a:cs typeface="+mj-ea"/>
                        </a:rPr>
                        <a:t>200 ✓</a:t>
                      </a:r>
                      <a:endParaRPr sz="1800" b="0" i="0">
                        <a:solidFill>
                          <a:srgbClr val="265B19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818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4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t=3s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0.002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+0.0008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0.003 &lt; 1.0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7F2C28"/>
                          </a:solidFill>
                          <a:latin typeface="+mj-ea"/>
                          <a:ea typeface="ui-monospace"/>
                          <a:cs typeface="+mj-ea"/>
                        </a:rPr>
                        <a:t>429 ✗ Retry-After: 1197s</a:t>
                      </a:r>
                      <a:endParaRPr sz="1800" b="0" i="0">
                        <a:solidFill>
                          <a:srgbClr val="7F2C28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710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5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t=1200s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0.003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1197s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+0.997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+mj-ea"/>
                          <a:ea typeface="ui-monospace"/>
                          <a:cs typeface="+mj-ea"/>
                        </a:rPr>
                        <a:t>0.00</a:t>
                      </a:r>
                      <a:endParaRPr sz="1800" b="0" i="0">
                        <a:solidFill>
                          <a:srgbClr val="000000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0" i="0">
                          <a:solidFill>
                            <a:srgbClr val="265B19"/>
                          </a:solidFill>
                          <a:latin typeface="+mj-ea"/>
                          <a:ea typeface="ui-monospace"/>
                          <a:cs typeface="+mj-ea"/>
                        </a:rPr>
                        <a:t>200 ✓ (waited 20 min)</a:t>
                      </a:r>
                      <a:endParaRPr sz="1800" b="0" i="0">
                        <a:solidFill>
                          <a:srgbClr val="265B19"/>
                        </a:solidFill>
                        <a:latin typeface="+mj-ea"/>
                        <a:ea typeface="ui-monospace"/>
                        <a:cs typeface="+mj-ea"/>
                      </a:endParaRPr>
                    </a:p>
                  </a:txBody>
                  <a:tcPr marL="76517" marR="76517" marT="47942" marB="479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748665" y="6156960"/>
            <a:ext cx="9277985" cy="492760"/>
          </a:xfrm>
          <a:prstGeom prst="rect">
            <a:avLst/>
          </a:prstGeom>
          <a:solidFill>
            <a:srgbClr val="92D050"/>
          </a:solidFill>
        </p:spPr>
        <p:txBody>
          <a:bodyPr>
            <a:noAutofit/>
          </a:bodyPr>
          <a:p>
            <a:pPr marL="0" indent="0"/>
            <a:r>
              <a:rPr sz="1600" b="0" i="0">
                <a:solidFill>
                  <a:srgbClr val="3D3D3A"/>
                </a:solidFill>
                <a:latin typeface="Calibri Light" panose="020F0302020204030204" charset="0"/>
                <a:ea typeface="Anthropic Sans"/>
                <a:cs typeface="Calibri Light" panose="020F0302020204030204" charset="0"/>
              </a:rPr>
              <a:t>Changing only windowSeconds from 60 → 3600 makes each token take 20 minutes to earn back. Zero code change.</a:t>
            </a:r>
            <a:endParaRPr sz="1600" b="0" i="0">
              <a:solidFill>
                <a:srgbClr val="3D3D3A"/>
              </a:solidFill>
              <a:latin typeface="Calibri Light" panose="020F0302020204030204" charset="0"/>
              <a:ea typeface="Anthropic Sans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461010" y="3210560"/>
          <a:ext cx="7854950" cy="2392680"/>
        </p:xfrm>
        <a:graphic>
          <a:graphicData uri="http://schemas.openxmlformats.org/drawingml/2006/table">
            <a:tbl>
              <a:tblPr/>
              <a:tblGrid>
                <a:gridCol w="3927475"/>
                <a:gridCol w="3927475"/>
              </a:tblGrid>
              <a:tr h="598170">
                <a:tc>
                  <a:txBody>
                    <a:bodyPr/>
                    <a:p>
                      <a:r>
                        <a:rPr sz="2000"/>
                        <a:t>Window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Refill Speed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p>
                      <a:r>
                        <a:rPr sz="2000"/>
                        <a:t>10 sec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1 token every 3.3 sec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p>
                      <a:r>
                        <a:rPr sz="2000"/>
                        <a:t>60 sec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1 token every 20 sec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p>
                      <a:r>
                        <a:rPr sz="2000"/>
                        <a:t>3600 sec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1 token every 20 min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349885" y="463550"/>
          <a:ext cx="9925685" cy="2004060"/>
        </p:xfrm>
        <a:graphic>
          <a:graphicData uri="http://schemas.openxmlformats.org/drawingml/2006/table">
            <a:tbl>
              <a:tblPr/>
              <a:tblGrid>
                <a:gridCol w="1677035"/>
                <a:gridCol w="1649730"/>
                <a:gridCol w="1649730"/>
                <a:gridCol w="1649730"/>
                <a:gridCol w="1649730"/>
                <a:gridCol w="1649730"/>
              </a:tblGrid>
              <a:tr h="469900"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Configuration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Capacity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Refill Tokens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Window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Tokens/Sec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1 Token Every</a:t>
                      </a:r>
                      <a:endParaRPr sz="2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064260"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Free Tier A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3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3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60 sec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0.05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20 sec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Free Tier B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3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3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3600 sec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0.000833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chemeClr val="tx1"/>
                          </a:solidFill>
                        </a:rPr>
                        <a:t>20 min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502285"/>
            <a:ext cx="11331575" cy="6182995"/>
          </a:xfrm>
          <a:prstGeom prst="trapezoid">
            <a:avLst/>
          </a:prstGeom>
        </p:spPr>
        <p:txBody>
          <a:bodyPr/>
          <a:p>
            <a:pPr lvl="1"/>
            <a:r>
              <a:rPr lang="en-US"/>
              <a:t>FREE TIER: (1 request consumes one token )</a:t>
            </a:r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r>
              <a:rPr lang="en-US"/>
              <a:t>Initially (Full capacity)                AFTER 1 request 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Trapezoid 3"/>
          <p:cNvSpPr/>
          <p:nvPr/>
        </p:nvSpPr>
        <p:spPr>
          <a:xfrm rot="10800000">
            <a:off x="1588770" y="2686050"/>
            <a:ext cx="2632710" cy="255206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03450" y="3429000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44445" y="4265295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2460" y="3583305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rapezoid 7"/>
          <p:cNvSpPr/>
          <p:nvPr/>
        </p:nvSpPr>
        <p:spPr>
          <a:xfrm rot="10800000">
            <a:off x="5753100" y="2686050"/>
            <a:ext cx="2632710" cy="255206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129780" y="3676650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381115" y="4385310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highlight>
                  <a:srgbClr val="FFFF00"/>
                </a:highlight>
              </a:rPr>
              <a:t>RefillPerSecond= double(refillToken)/WindowSec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 Bucket for Free Tier         After 3 requests in 3 sec      After waiting for </a:t>
            </a:r>
            <a:endParaRPr lang="en-US"/>
          </a:p>
          <a:p>
            <a:pPr marL="0" indent="0">
              <a:buNone/>
            </a:pPr>
            <a:r>
              <a:rPr lang="en-US" sz="1000"/>
              <a:t>   </a:t>
            </a:r>
            <a:r>
              <a:rPr lang="en-US" sz="1000">
                <a:highlight>
                  <a:srgbClr val="FFFF00"/>
                </a:highlight>
              </a:rPr>
              <a:t> RefillToken:3 ,WindowSec:60    </a:t>
            </a:r>
            <a:r>
              <a:rPr lang="en-US" sz="1000"/>
              <a:t>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/>
              <a:t>17 sec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rapezoid 3"/>
          <p:cNvSpPr/>
          <p:nvPr/>
        </p:nvSpPr>
        <p:spPr>
          <a:xfrm rot="10800000">
            <a:off x="1588770" y="3035935"/>
            <a:ext cx="2632710" cy="255206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083435" y="3702685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51430" y="4518660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992120" y="3702685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rapezoid 7"/>
          <p:cNvSpPr/>
          <p:nvPr/>
        </p:nvSpPr>
        <p:spPr>
          <a:xfrm rot="10800000">
            <a:off x="4897120" y="3035935"/>
            <a:ext cx="2632710" cy="255206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rapezoid 8"/>
          <p:cNvSpPr/>
          <p:nvPr/>
        </p:nvSpPr>
        <p:spPr>
          <a:xfrm rot="10800000">
            <a:off x="8620125" y="2953385"/>
            <a:ext cx="2632710" cy="255206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595485" y="4017645"/>
            <a:ext cx="628015" cy="588645"/>
          </a:xfrm>
          <a:prstGeom prst="ellipse">
            <a:avLst/>
          </a:prstGeom>
          <a:gradFill>
            <a:gsLst>
              <a:gs pos="50000">
                <a:schemeClr val="accent4"/>
              </a:gs>
              <a:gs pos="0">
                <a:schemeClr val="accent4">
                  <a:lumMod val="25000"/>
                  <a:lumOff val="7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742950"/>
            <a:ext cx="10622280" cy="543433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>
                <a:highlight>
                  <a:srgbClr val="00FF00"/>
                </a:highlight>
                <a:sym typeface="+mn-ea"/>
              </a:rPr>
              <a:t>For FREE TIER:</a:t>
            </a:r>
            <a:endParaRPr lang="en-US">
              <a:highlight>
                <a:srgbClr val="00FF00"/>
              </a:highlight>
              <a:sym typeface="+mn-ea"/>
            </a:endParaRPr>
          </a:p>
          <a:p>
            <a:pPr marL="0" indent="0">
              <a:buNone/>
            </a:pPr>
            <a:r>
              <a:rPr lang="en-US">
                <a:highlight>
                  <a:srgbClr val="FFFF00"/>
                </a:highlight>
                <a:sym typeface="+mn-ea"/>
              </a:rPr>
              <a:t> RefillToken:3 ,WindowSec:60    </a:t>
            </a:r>
            <a:endParaRPr lang="en-US"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r>
              <a:rPr lang="en-US">
                <a:highlight>
                  <a:srgbClr val="FFFF00"/>
                </a:highlight>
                <a:sym typeface="+mn-ea"/>
              </a:rPr>
              <a:t>RefillPerSecond= double(refillToken)/WindowSec</a:t>
            </a:r>
            <a:endParaRPr lang="en-US"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endParaRPr lang="en-US"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  <a:sym typeface="+mn-ea"/>
              </a:rPr>
              <a:t>RefillPerSecond=3/60  ~0.05 tokens per second</a:t>
            </a:r>
            <a:endParaRPr lang="en-US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>
                <a:highlight>
                  <a:srgbClr val="00FF00"/>
                </a:highlight>
                <a:sym typeface="+mn-ea"/>
              </a:rPr>
              <a:t>#Send 3 request in 3 seconds (3*0.05=0.15 tokens added)</a:t>
            </a:r>
            <a:endParaRPr lang="en-US">
              <a:highlight>
                <a:srgbClr val="00FF00"/>
              </a:highlight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  <a:sym typeface="+mn-ea"/>
              </a:rPr>
              <a:t>tokensToAdd = elapsedSeconds × refillRatePerSecond</a:t>
            </a:r>
            <a:endParaRPr lang="en-US" altLang="en-US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sym typeface="+mn-ea"/>
              </a:rPr>
              <a:t>For one complete token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highlight>
                  <a:srgbClr val="00FF00"/>
                </a:highlight>
              </a:rPr>
              <a:t>Need Extra 0.85 tokens   (0.85/0.05=17 )</a:t>
            </a: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highlight>
                  <a:srgbClr val="00FF00"/>
                </a:highlight>
              </a:rPr>
              <a:t> RETRY-AFTER time will be 17 seconds </a:t>
            </a: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highlight>
                  <a:srgbClr val="00FF00"/>
                </a:highlight>
              </a:rPr>
              <a:t>It shows that 1 tokens is gained in this time period.</a:t>
            </a: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0*293"/>
  <p:tag name="TABLE_ENDDRAG_RECT" val="38*93*870*293"/>
</p:tagLst>
</file>

<file path=ppt/tags/tag2.xml><?xml version="1.0" encoding="utf-8"?>
<p:tagLst xmlns:p="http://schemas.openxmlformats.org/presentationml/2006/main">
  <p:tag name="TABLE_ENDDRAG_ORIGIN_RECT" val="876*277"/>
  <p:tag name="TABLE_ENDDRAG_RECT" val="31*192*876*27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5858</Words>
  <Application>WPS Presentation</Application>
  <PresentationFormat>Widescreen</PresentationFormat>
  <Paragraphs>508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ui-monospace</vt:lpstr>
      <vt:lpstr>Segoe Print</vt:lpstr>
      <vt:lpstr>Anthropic Sans</vt:lpstr>
      <vt:lpstr>Office Theme</vt:lpstr>
      <vt:lpstr>API Rate Limiter + Backend System</vt:lpstr>
      <vt:lpstr>What is Rate Limiting?</vt:lpstr>
      <vt:lpstr>Token Bucket Concept</vt:lpstr>
      <vt:lpstr>PowerPoint 演示文稿</vt:lpstr>
      <vt:lpstr>Overview: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Key Components</vt:lpstr>
      <vt:lpstr>Backend System (Employee API)</vt:lpstr>
      <vt:lpstr>Integration:(Expected Architecture) How Rate Limiter Protects Backend? WebConfig → registers interceptor → applies to /api/backend/**</vt:lpstr>
      <vt:lpstr>Limitations</vt:lpstr>
      <vt:lpstr>Error Handling</vt:lpstr>
      <vt:lpstr>Final Summary What I built?</vt:lpstr>
      <vt:lpstr>Why Token Bucket?</vt:lpstr>
      <vt:lpstr>Real World Examples</vt:lpstr>
      <vt:lpstr>Problem Statement  &amp; Goals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RefillPerSecond= double(refillToken)/WindowSec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HP</cp:lastModifiedBy>
  <cp:revision>30</cp:revision>
  <dcterms:created xsi:type="dcterms:W3CDTF">2025-07-23T00:59:00Z</dcterms:created>
  <dcterms:modified xsi:type="dcterms:W3CDTF">2026-06-03T04:18:27Z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BB55C944727E46258F03CFB02646FF6A_13</vt:lpwstr>
  </property>
  <property fmtid="{D5CDD505-2E9C-101B-9397-08002B2CF9AE}" pid="3" name="KSOProductBuildVer">
    <vt:lpwstr>1033-12.1.0.26372</vt:lpwstr>
  </property>
</Properties>
</file>